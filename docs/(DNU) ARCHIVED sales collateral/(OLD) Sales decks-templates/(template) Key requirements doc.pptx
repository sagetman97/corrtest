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Nuni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EB93AE9-05A5-48DC-8135-EE01332C1AE5}">
  <a:tblStyle styleId="{2EB93AE9-05A5-48DC-8135-EE01332C1AE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Nunito-bold.fntdata"/><Relationship Id="rId12" Type="http://schemas.openxmlformats.org/officeDocument/2006/relationships/font" Target="fonts/Nunito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boldItalic.fntdata"/><Relationship Id="rId14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1365314a8be_3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g1365314a8be_3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1365314a8be_3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g1365314a8be_3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1365314a8be_3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1365314a8be_3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365314a8be_3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365314a8be_3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37770d140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37770d140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37770d140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37770d140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4">
  <p:cSld name="CUSTOM_1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448900" y="1894325"/>
            <a:ext cx="7695000" cy="3249300"/>
          </a:xfrm>
          <a:prstGeom prst="rect">
            <a:avLst/>
          </a:prstGeom>
          <a:solidFill>
            <a:srgbClr val="252525">
              <a:alpha val="49720"/>
            </a:srgbClr>
          </a:solidFill>
          <a:ln>
            <a:noFill/>
          </a:ln>
          <a:effectLst>
            <a:reflection blurRad="0" dir="5400000" dist="38100" endA="0" endPos="30000" fadeDir="5400012" kx="0" rotWithShape="0" algn="bl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1" y="0"/>
            <a:ext cx="5892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1"/>
              </a:solidFill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1" y="4812625"/>
            <a:ext cx="589200" cy="33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625" y="107100"/>
            <a:ext cx="316800" cy="246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>
            <p:ph type="title"/>
          </p:nvPr>
        </p:nvSpPr>
        <p:spPr>
          <a:xfrm>
            <a:off x="1601300" y="2046725"/>
            <a:ext cx="7276500" cy="405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1601300" y="2567868"/>
            <a:ext cx="72765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-3925" y="4812625"/>
            <a:ext cx="578400" cy="33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70000"/>
              </a:lnSpc>
              <a:buSzPts val="1018"/>
              <a:buNone/>
              <a:defRPr sz="603">
                <a:solidFill>
                  <a:schemeClr val="lt2"/>
                </a:solidFill>
              </a:defRPr>
            </a:lvl1pPr>
            <a:lvl2pPr lvl="1" rtl="0" algn="ctr">
              <a:lnSpc>
                <a:spcPct val="70000"/>
              </a:lnSpc>
              <a:buSzPts val="1018"/>
              <a:buNone/>
              <a:defRPr sz="603">
                <a:solidFill>
                  <a:schemeClr val="lt2"/>
                </a:solidFill>
              </a:defRPr>
            </a:lvl2pPr>
            <a:lvl3pPr lvl="2" rtl="0" algn="ctr">
              <a:lnSpc>
                <a:spcPct val="70000"/>
              </a:lnSpc>
              <a:buSzPts val="1018"/>
              <a:buNone/>
              <a:defRPr sz="603">
                <a:solidFill>
                  <a:schemeClr val="lt2"/>
                </a:solidFill>
              </a:defRPr>
            </a:lvl3pPr>
            <a:lvl4pPr lvl="3" rtl="0" algn="ctr">
              <a:lnSpc>
                <a:spcPct val="70000"/>
              </a:lnSpc>
              <a:buSzPts val="1018"/>
              <a:buNone/>
              <a:defRPr sz="603">
                <a:solidFill>
                  <a:schemeClr val="lt2"/>
                </a:solidFill>
              </a:defRPr>
            </a:lvl4pPr>
            <a:lvl5pPr lvl="4" rtl="0" algn="ctr">
              <a:lnSpc>
                <a:spcPct val="70000"/>
              </a:lnSpc>
              <a:buSzPts val="1018"/>
              <a:buNone/>
              <a:defRPr sz="603">
                <a:solidFill>
                  <a:schemeClr val="lt2"/>
                </a:solidFill>
              </a:defRPr>
            </a:lvl5pPr>
            <a:lvl6pPr lvl="5" rtl="0" algn="ctr">
              <a:lnSpc>
                <a:spcPct val="70000"/>
              </a:lnSpc>
              <a:buSzPts val="1018"/>
              <a:buNone/>
              <a:defRPr sz="603">
                <a:solidFill>
                  <a:schemeClr val="lt2"/>
                </a:solidFill>
              </a:defRPr>
            </a:lvl6pPr>
            <a:lvl7pPr lvl="6" rtl="0" algn="ctr">
              <a:lnSpc>
                <a:spcPct val="70000"/>
              </a:lnSpc>
              <a:buSzPts val="1018"/>
              <a:buNone/>
              <a:defRPr sz="603">
                <a:solidFill>
                  <a:schemeClr val="lt2"/>
                </a:solidFill>
              </a:defRPr>
            </a:lvl7pPr>
            <a:lvl8pPr lvl="7" rtl="0" algn="ctr">
              <a:lnSpc>
                <a:spcPct val="70000"/>
              </a:lnSpc>
              <a:buSzPts val="1018"/>
              <a:buNone/>
              <a:defRPr sz="603">
                <a:solidFill>
                  <a:schemeClr val="lt2"/>
                </a:solidFill>
              </a:defRPr>
            </a:lvl8pPr>
            <a:lvl9pPr lvl="8" rtl="0" algn="ctr">
              <a:lnSpc>
                <a:spcPct val="70000"/>
              </a:lnSpc>
              <a:buSzPts val="1018"/>
              <a:buNone/>
              <a:defRPr sz="603">
                <a:solidFill>
                  <a:schemeClr val="lt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2"/>
          <p:cNvSpPr txBox="1"/>
          <p:nvPr/>
        </p:nvSpPr>
        <p:spPr>
          <a:xfrm>
            <a:off x="8358221" y="4839625"/>
            <a:ext cx="752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© 2023  | polly.io</a:t>
            </a:r>
            <a:endParaRPr sz="55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2">
  <p:cSld name="CUSTOM_15_1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/>
          <p:nvPr/>
        </p:nvSpPr>
        <p:spPr>
          <a:xfrm>
            <a:off x="-12" y="4812625"/>
            <a:ext cx="578400" cy="330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0" name="Google Shape;20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8613" y="134813"/>
            <a:ext cx="343025" cy="27081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-3925" y="4812625"/>
            <a:ext cx="578400" cy="33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70000"/>
              </a:lnSpc>
              <a:buSzPts val="1018"/>
              <a:buNone/>
              <a:defRPr sz="603">
                <a:solidFill>
                  <a:schemeClr val="lt2"/>
                </a:solidFill>
              </a:defRPr>
            </a:lvl1pPr>
            <a:lvl2pPr lvl="1" rtl="0" algn="ctr">
              <a:lnSpc>
                <a:spcPct val="70000"/>
              </a:lnSpc>
              <a:buSzPts val="1018"/>
              <a:buNone/>
              <a:defRPr sz="603">
                <a:solidFill>
                  <a:schemeClr val="lt2"/>
                </a:solidFill>
              </a:defRPr>
            </a:lvl2pPr>
            <a:lvl3pPr lvl="2" rtl="0" algn="ctr">
              <a:lnSpc>
                <a:spcPct val="70000"/>
              </a:lnSpc>
              <a:buSzPts val="1018"/>
              <a:buNone/>
              <a:defRPr sz="603">
                <a:solidFill>
                  <a:schemeClr val="lt2"/>
                </a:solidFill>
              </a:defRPr>
            </a:lvl3pPr>
            <a:lvl4pPr lvl="3" rtl="0" algn="ctr">
              <a:lnSpc>
                <a:spcPct val="70000"/>
              </a:lnSpc>
              <a:buSzPts val="1018"/>
              <a:buNone/>
              <a:defRPr sz="603">
                <a:solidFill>
                  <a:schemeClr val="lt2"/>
                </a:solidFill>
              </a:defRPr>
            </a:lvl4pPr>
            <a:lvl5pPr lvl="4" rtl="0" algn="ctr">
              <a:lnSpc>
                <a:spcPct val="70000"/>
              </a:lnSpc>
              <a:buSzPts val="1018"/>
              <a:buNone/>
              <a:defRPr sz="603">
                <a:solidFill>
                  <a:schemeClr val="lt2"/>
                </a:solidFill>
              </a:defRPr>
            </a:lvl5pPr>
            <a:lvl6pPr lvl="5" rtl="0" algn="ctr">
              <a:lnSpc>
                <a:spcPct val="70000"/>
              </a:lnSpc>
              <a:buSzPts val="1018"/>
              <a:buNone/>
              <a:defRPr sz="603">
                <a:solidFill>
                  <a:schemeClr val="lt2"/>
                </a:solidFill>
              </a:defRPr>
            </a:lvl6pPr>
            <a:lvl7pPr lvl="6" rtl="0" algn="ctr">
              <a:lnSpc>
                <a:spcPct val="70000"/>
              </a:lnSpc>
              <a:buSzPts val="1018"/>
              <a:buNone/>
              <a:defRPr sz="603">
                <a:solidFill>
                  <a:schemeClr val="lt2"/>
                </a:solidFill>
              </a:defRPr>
            </a:lvl7pPr>
            <a:lvl8pPr lvl="7" rtl="0" algn="ctr">
              <a:lnSpc>
                <a:spcPct val="70000"/>
              </a:lnSpc>
              <a:buSzPts val="1018"/>
              <a:buNone/>
              <a:defRPr sz="603">
                <a:solidFill>
                  <a:schemeClr val="lt2"/>
                </a:solidFill>
              </a:defRPr>
            </a:lvl8pPr>
            <a:lvl9pPr lvl="8" rtl="0" algn="ctr">
              <a:lnSpc>
                <a:spcPct val="70000"/>
              </a:lnSpc>
              <a:buSzPts val="1018"/>
              <a:buNone/>
              <a:defRPr sz="603">
                <a:solidFill>
                  <a:schemeClr val="lt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3"/>
          <p:cNvSpPr txBox="1"/>
          <p:nvPr/>
        </p:nvSpPr>
        <p:spPr>
          <a:xfrm>
            <a:off x="8358221" y="4839625"/>
            <a:ext cx="752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© 2023  | polly.io</a:t>
            </a:r>
            <a:endParaRPr sz="55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655325" y="563775"/>
            <a:ext cx="8287500" cy="2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655325" y="835125"/>
            <a:ext cx="8304300" cy="2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2" type="subTitle"/>
          </p:nvPr>
        </p:nvSpPr>
        <p:spPr>
          <a:xfrm>
            <a:off x="655325" y="1265199"/>
            <a:ext cx="8287500" cy="2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b="1" sz="1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3" type="body"/>
          </p:nvPr>
        </p:nvSpPr>
        <p:spPr>
          <a:xfrm>
            <a:off x="655325" y="1576303"/>
            <a:ext cx="8287500" cy="2867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 sz="800">
                <a:solidFill>
                  <a:schemeClr val="lt2"/>
                </a:solidFill>
              </a:defRPr>
            </a:lvl1pPr>
            <a:lvl2pPr indent="-279400" lvl="1" marL="9144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 sz="800">
                <a:solidFill>
                  <a:schemeClr val="lt2"/>
                </a:solidFill>
              </a:defRPr>
            </a:lvl2pPr>
            <a:lvl3pPr indent="-279400" lvl="2" marL="13716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 sz="800">
                <a:solidFill>
                  <a:schemeClr val="lt2"/>
                </a:solidFill>
              </a:defRPr>
            </a:lvl3pPr>
            <a:lvl4pPr indent="-279400" lvl="3" marL="1828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 sz="800">
                <a:solidFill>
                  <a:schemeClr val="lt2"/>
                </a:solidFill>
              </a:defRPr>
            </a:lvl4pPr>
            <a:lvl5pPr indent="-279400" lvl="4" marL="22860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 sz="800">
                <a:solidFill>
                  <a:schemeClr val="lt2"/>
                </a:solidFill>
              </a:defRPr>
            </a:lvl5pPr>
            <a:lvl6pPr indent="-279400" lvl="5" marL="2743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 sz="800">
                <a:solidFill>
                  <a:schemeClr val="lt2"/>
                </a:solidFill>
              </a:defRPr>
            </a:lvl6pPr>
            <a:lvl7pPr indent="-279400" lvl="6" marL="32004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●"/>
              <a:defRPr sz="800">
                <a:solidFill>
                  <a:schemeClr val="lt2"/>
                </a:solidFill>
              </a:defRPr>
            </a:lvl7pPr>
            <a:lvl8pPr indent="-279400" lvl="7" marL="36576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○"/>
              <a:defRPr sz="800">
                <a:solidFill>
                  <a:schemeClr val="lt2"/>
                </a:solidFill>
              </a:defRPr>
            </a:lvl8pPr>
            <a:lvl9pPr indent="-279400" lvl="8" marL="411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Char char="■"/>
              <a:defRPr sz="8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 1">
  <p:cSld name="CUSTOM_9_1">
    <p:bg>
      <p:bgPr>
        <a:solidFill>
          <a:schemeClr val="dk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8613" y="134813"/>
            <a:ext cx="343025" cy="270815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>
            <a:off x="-12" y="4812625"/>
            <a:ext cx="578400" cy="33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-3925" y="4812625"/>
            <a:ext cx="578400" cy="33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70000"/>
              </a:lnSpc>
              <a:buSzPts val="1018"/>
              <a:buNone/>
              <a:defRPr sz="603">
                <a:solidFill>
                  <a:schemeClr val="lt2"/>
                </a:solidFill>
              </a:defRPr>
            </a:lvl1pPr>
            <a:lvl2pPr lvl="1" rtl="0" algn="ctr">
              <a:lnSpc>
                <a:spcPct val="70000"/>
              </a:lnSpc>
              <a:buSzPts val="1018"/>
              <a:buNone/>
              <a:defRPr sz="603">
                <a:solidFill>
                  <a:schemeClr val="lt2"/>
                </a:solidFill>
              </a:defRPr>
            </a:lvl2pPr>
            <a:lvl3pPr lvl="2" rtl="0" algn="ctr">
              <a:lnSpc>
                <a:spcPct val="70000"/>
              </a:lnSpc>
              <a:buSzPts val="1018"/>
              <a:buNone/>
              <a:defRPr sz="603">
                <a:solidFill>
                  <a:schemeClr val="lt2"/>
                </a:solidFill>
              </a:defRPr>
            </a:lvl3pPr>
            <a:lvl4pPr lvl="3" rtl="0" algn="ctr">
              <a:lnSpc>
                <a:spcPct val="70000"/>
              </a:lnSpc>
              <a:buSzPts val="1018"/>
              <a:buNone/>
              <a:defRPr sz="603">
                <a:solidFill>
                  <a:schemeClr val="lt2"/>
                </a:solidFill>
              </a:defRPr>
            </a:lvl4pPr>
            <a:lvl5pPr lvl="4" rtl="0" algn="ctr">
              <a:lnSpc>
                <a:spcPct val="70000"/>
              </a:lnSpc>
              <a:buSzPts val="1018"/>
              <a:buNone/>
              <a:defRPr sz="603">
                <a:solidFill>
                  <a:schemeClr val="lt2"/>
                </a:solidFill>
              </a:defRPr>
            </a:lvl5pPr>
            <a:lvl6pPr lvl="5" rtl="0" algn="ctr">
              <a:lnSpc>
                <a:spcPct val="70000"/>
              </a:lnSpc>
              <a:buSzPts val="1018"/>
              <a:buNone/>
              <a:defRPr sz="603">
                <a:solidFill>
                  <a:schemeClr val="lt2"/>
                </a:solidFill>
              </a:defRPr>
            </a:lvl6pPr>
            <a:lvl7pPr lvl="6" rtl="0" algn="ctr">
              <a:lnSpc>
                <a:spcPct val="70000"/>
              </a:lnSpc>
              <a:buSzPts val="1018"/>
              <a:buNone/>
              <a:defRPr sz="603">
                <a:solidFill>
                  <a:schemeClr val="lt2"/>
                </a:solidFill>
              </a:defRPr>
            </a:lvl7pPr>
            <a:lvl8pPr lvl="7" rtl="0" algn="ctr">
              <a:lnSpc>
                <a:spcPct val="70000"/>
              </a:lnSpc>
              <a:buSzPts val="1018"/>
              <a:buNone/>
              <a:defRPr sz="603">
                <a:solidFill>
                  <a:schemeClr val="lt2"/>
                </a:solidFill>
              </a:defRPr>
            </a:lvl8pPr>
            <a:lvl9pPr lvl="8" rtl="0" algn="ctr">
              <a:lnSpc>
                <a:spcPct val="70000"/>
              </a:lnSpc>
              <a:buSzPts val="1018"/>
              <a:buNone/>
              <a:defRPr sz="603">
                <a:solidFill>
                  <a:schemeClr val="lt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4"/>
          <p:cNvSpPr txBox="1"/>
          <p:nvPr/>
        </p:nvSpPr>
        <p:spPr>
          <a:xfrm>
            <a:off x="8358221" y="4839625"/>
            <a:ext cx="752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© 2023  | polly.io</a:t>
            </a:r>
            <a:endParaRPr sz="55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" name="Google Shape;32;p4"/>
          <p:cNvSpPr txBox="1"/>
          <p:nvPr>
            <p:ph type="title"/>
          </p:nvPr>
        </p:nvSpPr>
        <p:spPr>
          <a:xfrm>
            <a:off x="655325" y="563775"/>
            <a:ext cx="5037900" cy="2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665575" y="835127"/>
            <a:ext cx="5037900" cy="2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655325" y="1265200"/>
            <a:ext cx="7773600" cy="20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b="1" sz="1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body"/>
          </p:nvPr>
        </p:nvSpPr>
        <p:spPr>
          <a:xfrm>
            <a:off x="655325" y="1546775"/>
            <a:ext cx="7773600" cy="276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3050" lvl="0" marL="457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Char char="●"/>
              <a:defRPr sz="700">
                <a:solidFill>
                  <a:schemeClr val="lt2"/>
                </a:solidFill>
              </a:defRPr>
            </a:lvl1pPr>
            <a:lvl2pPr indent="-273050" lvl="1" marL="9144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Char char="○"/>
              <a:defRPr sz="700">
                <a:solidFill>
                  <a:schemeClr val="lt2"/>
                </a:solidFill>
              </a:defRPr>
            </a:lvl2pPr>
            <a:lvl3pPr indent="-273050" lvl="2" marL="13716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Char char="■"/>
              <a:defRPr sz="700">
                <a:solidFill>
                  <a:schemeClr val="lt2"/>
                </a:solidFill>
              </a:defRPr>
            </a:lvl3pPr>
            <a:lvl4pPr indent="-273050" lvl="3" marL="1828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Char char="●"/>
              <a:defRPr sz="700">
                <a:solidFill>
                  <a:schemeClr val="lt2"/>
                </a:solidFill>
              </a:defRPr>
            </a:lvl4pPr>
            <a:lvl5pPr indent="-273050" lvl="4" marL="22860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Char char="○"/>
              <a:defRPr sz="700">
                <a:solidFill>
                  <a:schemeClr val="lt2"/>
                </a:solidFill>
              </a:defRPr>
            </a:lvl5pPr>
            <a:lvl6pPr indent="-273050" lvl="5" marL="2743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Char char="■"/>
              <a:defRPr sz="700">
                <a:solidFill>
                  <a:schemeClr val="lt2"/>
                </a:solidFill>
              </a:defRPr>
            </a:lvl6pPr>
            <a:lvl7pPr indent="-273050" lvl="6" marL="32004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Char char="●"/>
              <a:defRPr sz="700">
                <a:solidFill>
                  <a:schemeClr val="lt2"/>
                </a:solidFill>
              </a:defRPr>
            </a:lvl7pPr>
            <a:lvl8pPr indent="-273050" lvl="7" marL="36576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Char char="○"/>
              <a:defRPr sz="700">
                <a:solidFill>
                  <a:schemeClr val="lt2"/>
                </a:solidFill>
              </a:defRPr>
            </a:lvl8pPr>
            <a:lvl9pPr indent="-273050" lvl="8" marL="411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00"/>
              <a:buChar char="■"/>
              <a:defRPr sz="700">
                <a:solidFill>
                  <a:schemeClr val="l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"/>
              <a:buNone/>
              <a:defRPr sz="2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"/>
              <a:buNone/>
              <a:defRPr sz="2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"/>
              <a:buNone/>
              <a:defRPr sz="2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"/>
              <a:buNone/>
              <a:defRPr sz="2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"/>
              <a:buNone/>
              <a:defRPr sz="2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"/>
              <a:buNone/>
              <a:defRPr sz="2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"/>
              <a:buNone/>
              <a:defRPr sz="2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"/>
              <a:buNone/>
              <a:defRPr sz="2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unito"/>
              <a:buNone/>
              <a:defRPr sz="28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unito"/>
              <a:buChar char="●"/>
              <a:defRPr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○"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■"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●"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○"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■"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●"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○"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unito"/>
              <a:buChar char="■"/>
              <a:defRPr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-3925" y="4812625"/>
            <a:ext cx="578400" cy="33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" name="Google Shape;41;p5"/>
          <p:cNvSpPr txBox="1"/>
          <p:nvPr>
            <p:ph type="title"/>
          </p:nvPr>
        </p:nvSpPr>
        <p:spPr>
          <a:xfrm>
            <a:off x="1601300" y="2264664"/>
            <a:ext cx="72765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Key requirements doc</a:t>
            </a:r>
            <a:endParaRPr b="1"/>
          </a:p>
        </p:txBody>
      </p:sp>
      <p:sp>
        <p:nvSpPr>
          <p:cNvPr id="42" name="Google Shape;42;p5"/>
          <p:cNvSpPr txBox="1"/>
          <p:nvPr>
            <p:ph idx="1" type="subTitle"/>
          </p:nvPr>
        </p:nvSpPr>
        <p:spPr>
          <a:xfrm>
            <a:off x="1601300" y="2048256"/>
            <a:ext cx="72765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1"/>
                </a:solidFill>
              </a:rPr>
              <a:t>Sales team resource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/>
          <p:nvPr/>
        </p:nvSpPr>
        <p:spPr>
          <a:xfrm>
            <a:off x="50850" y="0"/>
            <a:ext cx="9059100" cy="530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-3925" y="4812625"/>
            <a:ext cx="578400" cy="33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6"/>
          <p:cNvSpPr txBox="1"/>
          <p:nvPr>
            <p:ph type="title"/>
          </p:nvPr>
        </p:nvSpPr>
        <p:spPr>
          <a:xfrm>
            <a:off x="655325" y="563775"/>
            <a:ext cx="82875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Movement Mortgage - PPE project requirements</a:t>
            </a:r>
            <a:endParaRPr sz="800"/>
          </a:p>
        </p:txBody>
      </p:sp>
      <p:sp>
        <p:nvSpPr>
          <p:cNvPr id="50" name="Google Shape;50;p6"/>
          <p:cNvSpPr txBox="1"/>
          <p:nvPr>
            <p:ph idx="1" type="subTitle"/>
          </p:nvPr>
        </p:nvSpPr>
        <p:spPr>
          <a:xfrm>
            <a:off x="655325" y="835125"/>
            <a:ext cx="83043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Key requirements to enable the business</a:t>
            </a:r>
            <a:endParaRPr/>
          </a:p>
        </p:txBody>
      </p:sp>
      <p:graphicFrame>
        <p:nvGraphicFramePr>
          <p:cNvPr id="51" name="Google Shape;51;p6"/>
          <p:cNvGraphicFramePr/>
          <p:nvPr/>
        </p:nvGraphicFramePr>
        <p:xfrm>
          <a:off x="655350" y="12034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{2EB93AE9-05A5-48DC-8135-EE01332C1AE5}</a:tableStyleId>
              </a:tblPr>
              <a:tblGrid>
                <a:gridCol w="1512125"/>
                <a:gridCol w="5681600"/>
                <a:gridCol w="866675"/>
              </a:tblGrid>
              <a:tr h="30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Feature</a:t>
                      </a:r>
                      <a:endParaRPr b="1" sz="800">
                        <a:solidFill>
                          <a:schemeClr val="lt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Description</a:t>
                      </a:r>
                      <a:endParaRPr b="1" sz="800">
                        <a:solidFill>
                          <a:schemeClr val="lt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Polly status</a:t>
                      </a:r>
                      <a:endParaRPr b="1" sz="800">
                        <a:solidFill>
                          <a:schemeClr val="lt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04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Blend integration</a:t>
                      </a:r>
                      <a:endParaRPr b="1"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Integrate to Blend POS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LIVE</a:t>
                      </a:r>
                      <a:endParaRPr b="1"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04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Encompass integration</a:t>
                      </a:r>
                      <a:endParaRPr b="1"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Integrate to Encompass LOS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LIVE</a:t>
                      </a:r>
                      <a:endParaRPr b="1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04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Single-page interface</a:t>
                      </a:r>
                      <a:endParaRPr b="1"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Price UI is in a single-page interface, eliminating the back and forth to different pages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LIVE</a:t>
                      </a:r>
                      <a:endParaRPr b="1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04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Sub-second evaluation</a:t>
                      </a:r>
                      <a:endParaRPr b="1"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Price scenarios return results in sub-second response time from the UI and APIs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LIVE</a:t>
                      </a:r>
                      <a:endParaRPr b="1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04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Click into rule logic</a:t>
                      </a:r>
                      <a:endParaRPr b="1"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LOs can see the logic around any disqualifier or loan-level adjuster by clicking on the rule name to view logic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LIVE</a:t>
                      </a:r>
                      <a:endParaRPr b="1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04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Self-service policies</a:t>
                      </a:r>
                      <a:endParaRPr b="1"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Lenders manage their own lock desk policy configuration to customize the level of automation and policy parameters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LIVE</a:t>
                      </a:r>
                      <a:endParaRPr b="1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04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Workflow automation</a:t>
                      </a:r>
                      <a:endParaRPr b="1"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Workflow automation can be fine-tuned down to a per product and/or workflow level of automation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LIVE</a:t>
                      </a:r>
                      <a:endParaRPr b="1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81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Best execution</a:t>
                      </a:r>
                      <a:endParaRPr b="1"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True loan-level best execution across multiple investor products to deliver a single program to the LO with each</a:t>
                      </a:r>
                      <a:b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</a:b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note rate best-exing across all investors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LIVE</a:t>
                      </a:r>
                      <a:endParaRPr b="1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81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Margin management</a:t>
                      </a:r>
                      <a:endParaRPr b="1"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Unlimited granularity from a margin management perspective - i.e., by location, product, loan-level parameter, lock period, note rate, investor, custom parameter, etc.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LIVE</a:t>
                      </a:r>
                      <a:endParaRPr b="1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pic>
        <p:nvPicPr>
          <p:cNvPr id="52" name="Google Shape;52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586" y="250788"/>
            <a:ext cx="804672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"/>
          <p:cNvSpPr/>
          <p:nvPr/>
        </p:nvSpPr>
        <p:spPr>
          <a:xfrm>
            <a:off x="50850" y="0"/>
            <a:ext cx="9059100" cy="530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7"/>
          <p:cNvSpPr txBox="1"/>
          <p:nvPr>
            <p:ph idx="12" type="sldNum"/>
          </p:nvPr>
        </p:nvSpPr>
        <p:spPr>
          <a:xfrm>
            <a:off x="-3925" y="4812625"/>
            <a:ext cx="578400" cy="33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7"/>
          <p:cNvSpPr txBox="1"/>
          <p:nvPr>
            <p:ph type="title"/>
          </p:nvPr>
        </p:nvSpPr>
        <p:spPr>
          <a:xfrm>
            <a:off x="655325" y="563775"/>
            <a:ext cx="82875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Movement Mortgage - PPE project requirements (cont’d.)</a:t>
            </a:r>
            <a:endParaRPr sz="800"/>
          </a:p>
        </p:txBody>
      </p:sp>
      <p:sp>
        <p:nvSpPr>
          <p:cNvPr id="60" name="Google Shape;60;p7"/>
          <p:cNvSpPr txBox="1"/>
          <p:nvPr>
            <p:ph idx="1" type="subTitle"/>
          </p:nvPr>
        </p:nvSpPr>
        <p:spPr>
          <a:xfrm>
            <a:off x="655325" y="835125"/>
            <a:ext cx="83043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Key requirements to enable the business</a:t>
            </a:r>
            <a:endParaRPr/>
          </a:p>
        </p:txBody>
      </p:sp>
      <p:graphicFrame>
        <p:nvGraphicFramePr>
          <p:cNvPr id="61" name="Google Shape;61;p7"/>
          <p:cNvGraphicFramePr/>
          <p:nvPr/>
        </p:nvGraphicFramePr>
        <p:xfrm>
          <a:off x="655350" y="12034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{2EB93AE9-05A5-48DC-8135-EE01332C1AE5}</a:tableStyleId>
              </a:tblPr>
              <a:tblGrid>
                <a:gridCol w="1512125"/>
                <a:gridCol w="5681600"/>
                <a:gridCol w="866675"/>
              </a:tblGrid>
              <a:tr h="30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Feature</a:t>
                      </a:r>
                      <a:endParaRPr b="1" sz="800">
                        <a:solidFill>
                          <a:schemeClr val="lt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Description</a:t>
                      </a:r>
                      <a:endParaRPr b="1" sz="800">
                        <a:solidFill>
                          <a:schemeClr val="lt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Polly status</a:t>
                      </a:r>
                      <a:endParaRPr b="1" sz="800">
                        <a:solidFill>
                          <a:schemeClr val="lt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04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Rule groupings</a:t>
                      </a:r>
                      <a:endParaRPr b="1"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 forced entity hierarchy; lenders are in control of how they group their products and logic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LIVE</a:t>
                      </a:r>
                      <a:endParaRPr b="1"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04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Custom parameters</a:t>
                      </a:r>
                      <a:endParaRPr b="1"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Self-service custom parameters at no cost, can be mapped from any standard or custom </a:t>
                      </a: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field</a:t>
                      </a: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 for the LOS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LIVE</a:t>
                      </a:r>
                      <a:endParaRPr b="1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04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Testing</a:t>
                      </a:r>
                      <a:endParaRPr b="1"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Use versions to see all changes that were done in the system and/or re-publish a prior version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LIVE</a:t>
                      </a:r>
                      <a:endParaRPr b="1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04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Product creation</a:t>
                      </a:r>
                      <a:endParaRPr b="1"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Leverage cloning so products can be duplicated with the click of a button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LIVE</a:t>
                      </a:r>
                      <a:endParaRPr b="1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04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Two-way read/write</a:t>
                      </a:r>
                      <a:endParaRPr b="1"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Read and write from any standard or custom value from the LOS; custom fields are set up in Polly vs. Encompass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LIVE</a:t>
                      </a:r>
                      <a:endParaRPr b="1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04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Website access to Polly</a:t>
                      </a:r>
                      <a:endParaRPr b="1"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Access through any website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LIVE</a:t>
                      </a:r>
                      <a:endParaRPr b="1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04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Total vs. base loan amount</a:t>
                      </a:r>
                      <a:endParaRPr b="1"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Available in Polly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LIVE</a:t>
                      </a:r>
                      <a:endParaRPr b="1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81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Niche product support (non-QM)</a:t>
                      </a:r>
                      <a:endParaRPr b="1"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Support for non-traditional loans, including non-QM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LIVE</a:t>
                      </a:r>
                      <a:endParaRPr b="1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81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Automated email notices</a:t>
                      </a:r>
                      <a:endParaRPr b="1"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Automated emails when rate sheets are ingested and re-prices occur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LIVE</a:t>
                      </a:r>
                      <a:endParaRPr b="1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pic>
        <p:nvPicPr>
          <p:cNvPr id="62" name="Google Shape;6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586" y="250788"/>
            <a:ext cx="804672" cy="20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/>
          <p:nvPr/>
        </p:nvSpPr>
        <p:spPr>
          <a:xfrm>
            <a:off x="50850" y="0"/>
            <a:ext cx="9059100" cy="530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568" y="252088"/>
            <a:ext cx="914400" cy="19855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/>
          <p:nvPr>
            <p:ph idx="12" type="sldNum"/>
          </p:nvPr>
        </p:nvSpPr>
        <p:spPr>
          <a:xfrm>
            <a:off x="-3925" y="4812625"/>
            <a:ext cx="578400" cy="33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" name="Google Shape;70;p8"/>
          <p:cNvSpPr txBox="1"/>
          <p:nvPr>
            <p:ph type="title"/>
          </p:nvPr>
        </p:nvSpPr>
        <p:spPr>
          <a:xfrm>
            <a:off x="655325" y="563775"/>
            <a:ext cx="82875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Movement Mortgage - Exchange project requirements</a:t>
            </a:r>
            <a:endParaRPr sz="800"/>
          </a:p>
        </p:txBody>
      </p:sp>
      <p:sp>
        <p:nvSpPr>
          <p:cNvPr id="71" name="Google Shape;71;p8"/>
          <p:cNvSpPr txBox="1"/>
          <p:nvPr>
            <p:ph idx="1" type="subTitle"/>
          </p:nvPr>
        </p:nvSpPr>
        <p:spPr>
          <a:xfrm>
            <a:off x="655325" y="835125"/>
            <a:ext cx="83043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Key requirements to enable the business</a:t>
            </a:r>
            <a:endParaRPr/>
          </a:p>
        </p:txBody>
      </p:sp>
      <p:graphicFrame>
        <p:nvGraphicFramePr>
          <p:cNvPr id="72" name="Google Shape;72;p8"/>
          <p:cNvGraphicFramePr/>
          <p:nvPr/>
        </p:nvGraphicFramePr>
        <p:xfrm>
          <a:off x="655350" y="12034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{2EB93AE9-05A5-48DC-8135-EE01332C1AE5}</a:tableStyleId>
              </a:tblPr>
              <a:tblGrid>
                <a:gridCol w="1512125"/>
                <a:gridCol w="5681600"/>
                <a:gridCol w="866675"/>
              </a:tblGrid>
              <a:tr h="30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Feature</a:t>
                      </a:r>
                      <a:endParaRPr b="1" sz="800">
                        <a:solidFill>
                          <a:schemeClr val="lt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Description</a:t>
                      </a:r>
                      <a:endParaRPr b="1" sz="800">
                        <a:solidFill>
                          <a:schemeClr val="lt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Polly status</a:t>
                      </a:r>
                      <a:endParaRPr b="1" sz="800">
                        <a:solidFill>
                          <a:schemeClr val="lt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01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Agency commitments</a:t>
                      </a:r>
                      <a:endParaRPr b="1" sz="7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Auto-designed agency commitments to optimize spec and pay-up, and custom pool design capabilities and commitment management - never leave the platform to commit loans to agencies</a:t>
                      </a:r>
                      <a:endParaRPr sz="7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latin typeface="Nunito"/>
                          <a:ea typeface="Nunito"/>
                          <a:cs typeface="Nunito"/>
                          <a:sym typeface="Nunito"/>
                        </a:rPr>
                        <a:t>LIVE</a:t>
                      </a:r>
                      <a:endParaRPr b="1" sz="7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Commitment</a:t>
                      </a:r>
                      <a:r>
                        <a:rPr b="1" lang="en" sz="700">
                          <a:latin typeface="Nunito"/>
                          <a:ea typeface="Nunito"/>
                          <a:cs typeface="Nunito"/>
                          <a:sym typeface="Nunito"/>
                        </a:rPr>
                        <a:t> Cart</a:t>
                      </a:r>
                      <a:endParaRPr b="1" sz="7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Nunito"/>
                          <a:ea typeface="Nunito"/>
                          <a:cs typeface="Nunito"/>
                          <a:sym typeface="Nunito"/>
                        </a:rPr>
                        <a:t>One-click commit to take down all new agency commitments, allocate into forwards, </a:t>
                      </a:r>
                      <a:r>
                        <a:rPr lang="en" sz="7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and deliver </a:t>
                      </a:r>
                      <a:r>
                        <a:rPr lang="en" sz="7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committed tapes</a:t>
                      </a:r>
                      <a:endParaRPr sz="7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latin typeface="Nunito"/>
                          <a:ea typeface="Nunito"/>
                          <a:cs typeface="Nunito"/>
                          <a:sym typeface="Nunito"/>
                        </a:rPr>
                        <a:t>LIVE</a:t>
                      </a:r>
                      <a:endParaRPr b="1" sz="7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58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Pool Builder</a:t>
                      </a:r>
                      <a:endParaRPr b="1" sz="7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Allows users to manipulate pools of government loans and see impact of decisions in real time; grants full transparency into gain/</a:t>
                      </a:r>
                      <a:br>
                        <a:rPr lang="en" sz="700">
                          <a:latin typeface="Nunito"/>
                          <a:ea typeface="Nunito"/>
                          <a:cs typeface="Nunito"/>
                          <a:sym typeface="Nunito"/>
                        </a:rPr>
                      </a:br>
                      <a:r>
                        <a:rPr lang="en" sz="700">
                          <a:latin typeface="Nunito"/>
                          <a:ea typeface="Nunito"/>
                          <a:cs typeface="Nunito"/>
                          <a:sym typeface="Nunito"/>
                        </a:rPr>
                        <a:t>loss on spec pay-ups and high balance dilution at the loan-, pool-, and execution-level; </a:t>
                      </a:r>
                      <a:r>
                        <a:rPr lang="en" sz="700">
                          <a:latin typeface="Nunito"/>
                          <a:ea typeface="Nunito"/>
                          <a:cs typeface="Nunito"/>
                          <a:sym typeface="Nunito"/>
                        </a:rPr>
                        <a:t>users see the actual dollar impact at a glance; automatically tracks pool validity so users know when pool meets Ginnie Mae’s minimum requirements</a:t>
                      </a:r>
                      <a:endParaRPr sz="7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latin typeface="Nunito"/>
                          <a:ea typeface="Nunito"/>
                          <a:cs typeface="Nunito"/>
                          <a:sym typeface="Nunito"/>
                        </a:rPr>
                        <a:t>LIVE</a:t>
                      </a:r>
                      <a:endParaRPr b="1" sz="7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latin typeface="Nunito"/>
                          <a:ea typeface="Nunito"/>
                          <a:cs typeface="Nunito"/>
                          <a:sym typeface="Nunito"/>
                        </a:rPr>
                        <a:t>Buyer bidding rules</a:t>
                      </a:r>
                      <a:endParaRPr b="1" sz="7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Create custom bidding rules to fully automate eligibility; investors’ bid tapes never include loans that cannot be delivered</a:t>
                      </a:r>
                      <a:endParaRPr sz="7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latin typeface="Nunito"/>
                          <a:ea typeface="Nunito"/>
                          <a:cs typeface="Nunito"/>
                          <a:sym typeface="Nunito"/>
                        </a:rPr>
                        <a:t>LIVE</a:t>
                      </a:r>
                      <a:endParaRPr b="1" sz="7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07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latin typeface="Nunito"/>
                          <a:ea typeface="Nunito"/>
                          <a:cs typeface="Nunito"/>
                          <a:sym typeface="Nunito"/>
                        </a:rPr>
                        <a:t>Easily add new partners</a:t>
                      </a:r>
                      <a:endParaRPr b="1" sz="7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Simply click </a:t>
                      </a:r>
                      <a:r>
                        <a:rPr lang="en" sz="7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add</a:t>
                      </a:r>
                      <a:r>
                        <a:rPr lang="en" sz="700">
                          <a:latin typeface="Nunito"/>
                          <a:ea typeface="Nunito"/>
                          <a:cs typeface="Nunito"/>
                          <a:sym typeface="Nunito"/>
                        </a:rPr>
                        <a:t> in the partners screen to send the request; once accepted, begin selling to the new partner immediately</a:t>
                      </a:r>
                      <a:endParaRPr sz="7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latin typeface="Nunito"/>
                          <a:ea typeface="Nunito"/>
                          <a:cs typeface="Nunito"/>
                          <a:sym typeface="Nunito"/>
                        </a:rPr>
                        <a:t>LIVE</a:t>
                      </a:r>
                      <a:endParaRPr b="1" sz="7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latin typeface="Nunito"/>
                          <a:ea typeface="Nunito"/>
                          <a:cs typeface="Nunito"/>
                          <a:sym typeface="Nunito"/>
                        </a:rPr>
                        <a:t>Freddie CRX integration</a:t>
                      </a:r>
                      <a:endParaRPr b="1" sz="7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Polly</a:t>
                      </a:r>
                      <a:r>
                        <a:rPr lang="en" sz="700">
                          <a:latin typeface="Nunito"/>
                          <a:ea typeface="Nunito"/>
                          <a:cs typeface="Nunito"/>
                          <a:sym typeface="Nunito"/>
                        </a:rPr>
                        <a:t> integrates to CRX, allowing for accurate loan-level pricing and execution</a:t>
                      </a:r>
                      <a:endParaRPr sz="7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latin typeface="Nunito"/>
                          <a:ea typeface="Nunito"/>
                          <a:cs typeface="Nunito"/>
                          <a:sym typeface="Nunito"/>
                        </a:rPr>
                        <a:t>LIVE</a:t>
                      </a:r>
                      <a:endParaRPr b="1" sz="7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23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Streamlined workflows</a:t>
                      </a:r>
                      <a:endParaRPr b="1" sz="7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Purpose-b</a:t>
                      </a:r>
                      <a:r>
                        <a:rPr lang="en" sz="700">
                          <a:latin typeface="Nunito"/>
                          <a:ea typeface="Nunito"/>
                          <a:cs typeface="Nunito"/>
                          <a:sym typeface="Nunito"/>
                        </a:rPr>
                        <a:t>uilt for capital market experts, the Exchange is reliable, easy to use, and will not interfere with other processes</a:t>
                      </a:r>
                      <a:endParaRPr sz="7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latin typeface="Nunito"/>
                          <a:ea typeface="Nunito"/>
                          <a:cs typeface="Nunito"/>
                          <a:sym typeface="Nunito"/>
                        </a:rPr>
                        <a:t>LIVE</a:t>
                      </a:r>
                      <a:endParaRPr b="1" sz="7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16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Retained servicing valuations</a:t>
                      </a:r>
                      <a:endParaRPr b="1" sz="7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Custom retained servicing valuations at the loan level tied to every loan</a:t>
                      </a:r>
                      <a:endParaRPr sz="7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latin typeface="Nunito"/>
                          <a:ea typeface="Nunito"/>
                          <a:cs typeface="Nunito"/>
                          <a:sym typeface="Nunito"/>
                        </a:rPr>
                        <a:t>LIVE</a:t>
                      </a:r>
                      <a:endParaRPr b="1" sz="7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8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Automated LOS writebacks</a:t>
                      </a:r>
                      <a:endParaRPr b="1" sz="7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Part of Polly service</a:t>
                      </a:r>
                      <a:endParaRPr sz="7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latin typeface="Nunito"/>
                          <a:ea typeface="Nunito"/>
                          <a:cs typeface="Nunito"/>
                          <a:sym typeface="Nunito"/>
                        </a:rPr>
                        <a:t>LIVE</a:t>
                      </a:r>
                      <a:endParaRPr b="1" sz="7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Price comparison</a:t>
                      </a:r>
                      <a:endParaRPr b="1" sz="7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Nunito"/>
                          <a:ea typeface="Nunito"/>
                          <a:cs typeface="Nunito"/>
                          <a:sym typeface="Nunito"/>
                        </a:rPr>
                        <a:t>Evaluate new agency commitments, open forward pricing, and real-time aggregator pricing in a side-by-side, single view</a:t>
                      </a:r>
                      <a:endParaRPr sz="7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latin typeface="Nunito"/>
                          <a:ea typeface="Nunito"/>
                          <a:cs typeface="Nunito"/>
                          <a:sym typeface="Nunito"/>
                        </a:rPr>
                        <a:t>LIVE</a:t>
                      </a:r>
                      <a:endParaRPr b="1" sz="7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/>
          <p:nvPr/>
        </p:nvSpPr>
        <p:spPr>
          <a:xfrm>
            <a:off x="50850" y="0"/>
            <a:ext cx="9059100" cy="530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586" y="250788"/>
            <a:ext cx="804672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9"/>
          <p:cNvSpPr txBox="1"/>
          <p:nvPr>
            <p:ph idx="12" type="sldNum"/>
          </p:nvPr>
        </p:nvSpPr>
        <p:spPr>
          <a:xfrm>
            <a:off x="-3925" y="4812625"/>
            <a:ext cx="578400" cy="33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" name="Google Shape;80;p9"/>
          <p:cNvSpPr txBox="1"/>
          <p:nvPr>
            <p:ph type="title"/>
          </p:nvPr>
        </p:nvSpPr>
        <p:spPr>
          <a:xfrm>
            <a:off x="655325" y="563775"/>
            <a:ext cx="82875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FF00"/>
                </a:highlight>
              </a:rPr>
              <a:t>Company name</a:t>
            </a:r>
            <a:r>
              <a:rPr lang="en"/>
              <a:t> - PPE project requirements</a:t>
            </a:r>
            <a:endParaRPr sz="800"/>
          </a:p>
        </p:txBody>
      </p:sp>
      <p:sp>
        <p:nvSpPr>
          <p:cNvPr id="81" name="Google Shape;81;p9"/>
          <p:cNvSpPr txBox="1"/>
          <p:nvPr>
            <p:ph idx="1" type="subTitle"/>
          </p:nvPr>
        </p:nvSpPr>
        <p:spPr>
          <a:xfrm>
            <a:off x="655325" y="835125"/>
            <a:ext cx="83043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Key requirements to enable the business</a:t>
            </a:r>
            <a:endParaRPr/>
          </a:p>
        </p:txBody>
      </p:sp>
      <p:graphicFrame>
        <p:nvGraphicFramePr>
          <p:cNvPr id="82" name="Google Shape;82;p9"/>
          <p:cNvGraphicFramePr/>
          <p:nvPr/>
        </p:nvGraphicFramePr>
        <p:xfrm>
          <a:off x="655350" y="12034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{2EB93AE9-05A5-48DC-8135-EE01332C1AE5}</a:tableStyleId>
              </a:tblPr>
              <a:tblGrid>
                <a:gridCol w="1512125"/>
                <a:gridCol w="5681600"/>
                <a:gridCol w="866675"/>
              </a:tblGrid>
              <a:tr h="30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Feature</a:t>
                      </a:r>
                      <a:endParaRPr b="1" sz="800">
                        <a:solidFill>
                          <a:schemeClr val="lt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Description</a:t>
                      </a:r>
                      <a:endParaRPr b="1" sz="800">
                        <a:solidFill>
                          <a:schemeClr val="lt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Polly status</a:t>
                      </a:r>
                      <a:endParaRPr b="1" sz="800">
                        <a:solidFill>
                          <a:schemeClr val="lt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01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Sample 1</a:t>
                      </a:r>
                      <a:endParaRPr b="1" sz="800">
                        <a:highlight>
                          <a:srgbClr val="FFFF00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Placeholder text</a:t>
                      </a:r>
                      <a:endParaRPr sz="800">
                        <a:highlight>
                          <a:srgbClr val="FFFF00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LIVE</a:t>
                      </a:r>
                      <a:endParaRPr b="1" sz="800">
                        <a:highlight>
                          <a:srgbClr val="FFFF00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Sample 2</a:t>
                      </a:r>
                      <a:endParaRPr b="1" sz="800">
                        <a:highlight>
                          <a:srgbClr val="FFFF00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Placeholder text</a:t>
                      </a:r>
                      <a:endParaRPr sz="800">
                        <a:highlight>
                          <a:srgbClr val="FFFF00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Q1 2023</a:t>
                      </a:r>
                      <a:endParaRPr b="1" sz="800">
                        <a:highlight>
                          <a:srgbClr val="FFFF00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58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Sample 3</a:t>
                      </a:r>
                      <a:endParaRPr b="1" sz="800">
                        <a:highlight>
                          <a:srgbClr val="FFFF00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Placeholder text</a:t>
                      </a:r>
                      <a:endParaRPr sz="800">
                        <a:highlight>
                          <a:srgbClr val="FFFF00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Q2 2023</a:t>
                      </a:r>
                      <a:endParaRPr b="1" sz="800">
                        <a:highlight>
                          <a:srgbClr val="FFFF00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Sample 4</a:t>
                      </a:r>
                      <a:endParaRPr b="1" sz="800">
                        <a:highlight>
                          <a:srgbClr val="FFFF00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Placeholder text</a:t>
                      </a:r>
                      <a:endParaRPr sz="800">
                        <a:highlight>
                          <a:srgbClr val="FFFF00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Status</a:t>
                      </a:r>
                      <a:endParaRPr b="1" sz="800">
                        <a:highlight>
                          <a:srgbClr val="FFFF00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07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Sample 5</a:t>
                      </a:r>
                      <a:endParaRPr b="1" sz="800">
                        <a:highlight>
                          <a:srgbClr val="FFFF00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Placeholder text</a:t>
                      </a:r>
                      <a:endParaRPr sz="800">
                        <a:highlight>
                          <a:srgbClr val="FFFF00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Status</a:t>
                      </a:r>
                      <a:endParaRPr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Sample 6</a:t>
                      </a:r>
                      <a:endParaRPr b="1" sz="800">
                        <a:highlight>
                          <a:srgbClr val="FFFF00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Placeholder text</a:t>
                      </a:r>
                      <a:endParaRPr sz="800">
                        <a:highlight>
                          <a:srgbClr val="FFFF00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Status</a:t>
                      </a:r>
                      <a:endParaRPr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23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Sample 7</a:t>
                      </a:r>
                      <a:endParaRPr b="1" sz="800">
                        <a:highlight>
                          <a:srgbClr val="FFFF00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Placeholder text</a:t>
                      </a:r>
                      <a:endParaRPr sz="800">
                        <a:highlight>
                          <a:srgbClr val="FFFF00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Status</a:t>
                      </a:r>
                      <a:endParaRPr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16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Sample 8</a:t>
                      </a:r>
                      <a:endParaRPr b="1" sz="800">
                        <a:highlight>
                          <a:srgbClr val="FFFF00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Placeholder text</a:t>
                      </a:r>
                      <a:endParaRPr sz="800">
                        <a:highlight>
                          <a:srgbClr val="FFFF00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Status</a:t>
                      </a:r>
                      <a:endParaRPr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8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Sample</a:t>
                      </a:r>
                      <a:r>
                        <a:rPr b="1"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 9</a:t>
                      </a:r>
                      <a:endParaRPr b="1" sz="800">
                        <a:highlight>
                          <a:srgbClr val="FFFF00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Placeholder text</a:t>
                      </a:r>
                      <a:endParaRPr sz="800">
                        <a:highlight>
                          <a:srgbClr val="FFFF00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Status</a:t>
                      </a:r>
                      <a:endParaRPr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02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Sample 10</a:t>
                      </a:r>
                      <a:endParaRPr b="1" sz="800">
                        <a:highlight>
                          <a:srgbClr val="FFFF00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Placeholder text</a:t>
                      </a:r>
                      <a:endParaRPr sz="800">
                        <a:highlight>
                          <a:srgbClr val="FFFF00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Status</a:t>
                      </a:r>
                      <a:endParaRPr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"/>
          <p:cNvSpPr/>
          <p:nvPr/>
        </p:nvSpPr>
        <p:spPr>
          <a:xfrm>
            <a:off x="50850" y="0"/>
            <a:ext cx="9059100" cy="530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568" y="252088"/>
            <a:ext cx="914400" cy="19855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>
            <p:ph idx="12" type="sldNum"/>
          </p:nvPr>
        </p:nvSpPr>
        <p:spPr>
          <a:xfrm>
            <a:off x="-3925" y="4812625"/>
            <a:ext cx="578400" cy="33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0"/>
          <p:cNvSpPr txBox="1"/>
          <p:nvPr>
            <p:ph type="title"/>
          </p:nvPr>
        </p:nvSpPr>
        <p:spPr>
          <a:xfrm>
            <a:off x="655325" y="563775"/>
            <a:ext cx="82875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FF00"/>
                </a:highlight>
              </a:rPr>
              <a:t>Company name</a:t>
            </a:r>
            <a:r>
              <a:rPr lang="en"/>
              <a:t> - Exchange project requirements</a:t>
            </a:r>
            <a:endParaRPr sz="800"/>
          </a:p>
        </p:txBody>
      </p:sp>
      <p:sp>
        <p:nvSpPr>
          <p:cNvPr id="91" name="Google Shape;91;p10"/>
          <p:cNvSpPr txBox="1"/>
          <p:nvPr>
            <p:ph idx="1" type="subTitle"/>
          </p:nvPr>
        </p:nvSpPr>
        <p:spPr>
          <a:xfrm>
            <a:off x="655325" y="835125"/>
            <a:ext cx="8304300" cy="1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Key requirements to enable the business</a:t>
            </a:r>
            <a:endParaRPr/>
          </a:p>
        </p:txBody>
      </p:sp>
      <p:graphicFrame>
        <p:nvGraphicFramePr>
          <p:cNvPr id="92" name="Google Shape;92;p10"/>
          <p:cNvGraphicFramePr/>
          <p:nvPr/>
        </p:nvGraphicFramePr>
        <p:xfrm>
          <a:off x="655350" y="12034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{2EB93AE9-05A5-48DC-8135-EE01332C1AE5}</a:tableStyleId>
              </a:tblPr>
              <a:tblGrid>
                <a:gridCol w="1512125"/>
                <a:gridCol w="5681600"/>
                <a:gridCol w="866675"/>
              </a:tblGrid>
              <a:tr h="304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Feature</a:t>
                      </a:r>
                      <a:endParaRPr b="1" sz="800">
                        <a:solidFill>
                          <a:schemeClr val="lt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Description</a:t>
                      </a:r>
                      <a:endParaRPr b="1" sz="800">
                        <a:solidFill>
                          <a:schemeClr val="lt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lt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Polly status</a:t>
                      </a:r>
                      <a:endParaRPr b="1" sz="800">
                        <a:solidFill>
                          <a:schemeClr val="lt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01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Sample 1</a:t>
                      </a:r>
                      <a:endParaRPr b="1" sz="800">
                        <a:highlight>
                          <a:srgbClr val="FFFF00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Placeholder text</a:t>
                      </a:r>
                      <a:endParaRPr sz="800">
                        <a:highlight>
                          <a:srgbClr val="FFFF00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LIVE</a:t>
                      </a:r>
                      <a:endParaRPr b="1" sz="800">
                        <a:highlight>
                          <a:srgbClr val="FFFF00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Sample 2</a:t>
                      </a:r>
                      <a:endParaRPr b="1" sz="800">
                        <a:highlight>
                          <a:srgbClr val="FFFF00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Placeholder text</a:t>
                      </a:r>
                      <a:endParaRPr sz="800">
                        <a:highlight>
                          <a:srgbClr val="FFFF00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Q1 2023</a:t>
                      </a:r>
                      <a:endParaRPr b="1" sz="800">
                        <a:highlight>
                          <a:srgbClr val="FFFF00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58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Sample 3</a:t>
                      </a:r>
                      <a:endParaRPr b="1" sz="800">
                        <a:highlight>
                          <a:srgbClr val="FFFF00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Placeholder text</a:t>
                      </a:r>
                      <a:endParaRPr sz="800">
                        <a:highlight>
                          <a:srgbClr val="FFFF00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Q2 2023</a:t>
                      </a:r>
                      <a:endParaRPr b="1" sz="800">
                        <a:highlight>
                          <a:srgbClr val="FFFF00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Sample 4</a:t>
                      </a:r>
                      <a:endParaRPr b="1" sz="800">
                        <a:highlight>
                          <a:srgbClr val="FFFF00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Placeholder text</a:t>
                      </a:r>
                      <a:endParaRPr sz="800">
                        <a:highlight>
                          <a:srgbClr val="FFFF00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Status</a:t>
                      </a:r>
                      <a:endParaRPr b="1" sz="800">
                        <a:highlight>
                          <a:srgbClr val="FFFF00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07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Sample 5</a:t>
                      </a:r>
                      <a:endParaRPr b="1" sz="800">
                        <a:highlight>
                          <a:srgbClr val="FFFF00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Placeholder text</a:t>
                      </a:r>
                      <a:endParaRPr sz="800">
                        <a:highlight>
                          <a:srgbClr val="FFFF00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Status</a:t>
                      </a:r>
                      <a:endParaRPr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Sample 6</a:t>
                      </a:r>
                      <a:endParaRPr b="1" sz="800">
                        <a:highlight>
                          <a:srgbClr val="FFFF00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Placeholder text</a:t>
                      </a:r>
                      <a:endParaRPr sz="800">
                        <a:highlight>
                          <a:srgbClr val="FFFF00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Status</a:t>
                      </a:r>
                      <a:endParaRPr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23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Sample 7</a:t>
                      </a:r>
                      <a:endParaRPr b="1" sz="800">
                        <a:highlight>
                          <a:srgbClr val="FFFF00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Placeholder text</a:t>
                      </a:r>
                      <a:endParaRPr sz="800">
                        <a:highlight>
                          <a:srgbClr val="FFFF00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Status</a:t>
                      </a:r>
                      <a:endParaRPr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16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Sample 8</a:t>
                      </a:r>
                      <a:endParaRPr b="1" sz="800">
                        <a:highlight>
                          <a:srgbClr val="FFFF00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Placeholder text</a:t>
                      </a:r>
                      <a:endParaRPr sz="800">
                        <a:highlight>
                          <a:srgbClr val="FFFF00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Status</a:t>
                      </a:r>
                      <a:endParaRPr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128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Sample 9</a:t>
                      </a:r>
                      <a:endParaRPr b="1" sz="800">
                        <a:highlight>
                          <a:srgbClr val="FFFF00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Placeholder text</a:t>
                      </a:r>
                      <a:endParaRPr sz="800">
                        <a:highlight>
                          <a:srgbClr val="FFFF00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Status</a:t>
                      </a:r>
                      <a:endParaRPr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202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Sample 10</a:t>
                      </a:r>
                      <a:endParaRPr b="1" sz="800">
                        <a:highlight>
                          <a:srgbClr val="FFFF00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Placeholder text</a:t>
                      </a:r>
                      <a:endParaRPr sz="800">
                        <a:highlight>
                          <a:srgbClr val="FFFF00"/>
                        </a:highlight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highlight>
                            <a:srgbClr val="FFFF00"/>
                          </a:highlight>
                          <a:latin typeface="Nunito"/>
                          <a:ea typeface="Nunito"/>
                          <a:cs typeface="Nunito"/>
                          <a:sym typeface="Nunito"/>
                        </a:rPr>
                        <a:t>Status</a:t>
                      </a:r>
                      <a:endParaRPr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5252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5252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FFFFFF"/>
      </a:dk1>
      <a:lt1>
        <a:srgbClr val="EFEFEF"/>
      </a:lt1>
      <a:dk2>
        <a:srgbClr val="B8B6B6"/>
      </a:dk2>
      <a:lt2>
        <a:srgbClr val="252525"/>
      </a:lt2>
      <a:accent1>
        <a:srgbClr val="01FFF0"/>
      </a:accent1>
      <a:accent2>
        <a:srgbClr val="FFD601"/>
      </a:accent2>
      <a:accent3>
        <a:srgbClr val="1DD6FF"/>
      </a:accent3>
      <a:accent4>
        <a:srgbClr val="9980FE"/>
      </a:accent4>
      <a:accent5>
        <a:srgbClr val="FD52D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